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f2f70c2e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cf2f70c2e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cf2f70c2e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f2f70c2ee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cf2f70c2ee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f2f70c2ee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f2f70c2ee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cf2f70c2ee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f2f70c2ee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f2f70c2ee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cf2f70c2ee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f2f70c2ee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f2f70c2ee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cf2f70c2ee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f2f70c2ee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f2f70c2ee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f2f70c2ee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f2f70c2ee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f2f70c2ee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cf2f70c2ee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cf2f70c2ee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00" y="-2286000"/>
            <a:ext cx="8229600" cy="8229600"/>
          </a:xfrm>
          <a:prstGeom prst="ellipse">
            <a:avLst/>
          </a:prstGeom>
          <a:solidFill>
            <a:srgbClr val="C0392B">
              <a:alpha val="7058"/>
            </a:srgbClr>
          </a:solidFill>
          <a:ln cap="flat" cmpd="sng" w="12700">
            <a:solidFill>
              <a:srgbClr val="C0392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E74C3C">
              <a:alpha val="10196"/>
            </a:srgbClr>
          </a:solidFill>
          <a:ln cap="flat" cmpd="sng" w="12700">
            <a:solidFill>
              <a:srgbClr val="E74C3C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0" y="-457200"/>
            <a:ext cx="4572000" cy="4572000"/>
          </a:xfrm>
          <a:prstGeom prst="ellipse">
            <a:avLst/>
          </a:prstGeom>
          <a:solidFill>
            <a:srgbClr val="E67E22">
              <a:alpha val="7843"/>
            </a:srgbClr>
          </a:solidFill>
          <a:ln cap="flat" cmpd="sng" w="12700">
            <a:solidFill>
              <a:srgbClr val="E67E22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640080"/>
            <a:ext cx="2926080" cy="310896"/>
          </a:xfrm>
          <a:prstGeom prst="rect">
            <a:avLst/>
          </a:prstGeom>
          <a:solidFill>
            <a:srgbClr val="C0392B">
              <a:alpha val="25098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640080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SEMINARIO · FOUNDATION MODELS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1051550"/>
            <a:ext cx="806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0"/>
              <a:buFont typeface="Calibri"/>
              <a:buNone/>
            </a:pPr>
            <a:r>
              <a:rPr b="1" i="0" lang="en-US" sz="8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8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24688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600"/>
              <a:buFont typeface="Calibri"/>
              <a:buNone/>
            </a:pPr>
            <a:r>
              <a:rPr b="0" i="1" lang="en-US" sz="2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Anthropic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5" y="3129200"/>
            <a:ext cx="73152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i="1" sz="1200">
              <a:solidFill>
                <a:srgbClr val="7F8C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200"/>
              <a:buFont typeface="Calibri"/>
              <a:buChar char="●"/>
            </a:pPr>
            <a: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Gianella Forttini Verastegui</a:t>
            </a:r>
            <a:endParaRPr i="1" sz="1200">
              <a:solidFill>
                <a:srgbClr val="7F8C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200"/>
              <a:buFont typeface="Calibri"/>
              <a:buChar char="●"/>
            </a:pPr>
            <a: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Christian Gutierrez Rosales</a:t>
            </a:r>
            <a:b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4000" y="1245800"/>
            <a:ext cx="1509374" cy="150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0050" y="1748803"/>
            <a:ext cx="20118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50" y="1748803"/>
            <a:ext cx="2011800" cy="639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65752" y="1881325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540" y="2470493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Anthropic y por qué Claude?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496322" y="1748803"/>
            <a:ext cx="20118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496322" y="1748803"/>
            <a:ext cx="2011800" cy="639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587747" y="1858537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594712" y="2470493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del Modelo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613224" y="1748788"/>
            <a:ext cx="19746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613224" y="1748788"/>
            <a:ext cx="1974600" cy="639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704646" y="1858525"/>
            <a:ext cx="59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200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704786" y="2470503"/>
            <a:ext cx="179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Fortalezas y Limitaciones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693049" y="1748788"/>
            <a:ext cx="20118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693049" y="1748788"/>
            <a:ext cx="2011800" cy="639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767540" y="1858520"/>
            <a:ext cx="504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20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777552" y="2470503"/>
            <a:ext cx="1825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Aplicaciones 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Comparativa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31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—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Anthropic y por qué Claude?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144265" y="1599167"/>
            <a:ext cx="521100" cy="54900"/>
          </a:xfrm>
          <a:prstGeom prst="rect">
            <a:avLst/>
          </a:prstGeom>
          <a:solidFill>
            <a:srgbClr val="C0392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092705" y="1324847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98345" y="97737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98345" y="1937495"/>
            <a:ext cx="1645800" cy="27432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98345" y="1937495"/>
            <a:ext cx="1645800" cy="639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71497" y="2028935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71497" y="2440415"/>
            <a:ext cx="15087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Ex-investigadores de OpenAI liderados por Dario y Daniela Amodei crean Anthropic con foco en AI Safety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11393" y="1599167"/>
            <a:ext cx="521100" cy="54900"/>
          </a:xfrm>
          <a:prstGeom prst="rect">
            <a:avLst/>
          </a:prstGeom>
          <a:solidFill>
            <a:srgbClr val="E67E2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259833" y="1324847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2665473" y="97737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665473" y="1937495"/>
            <a:ext cx="1645800" cy="27432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2665473" y="1937495"/>
            <a:ext cx="1645800" cy="639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2738625" y="2028935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1 &amp;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738625" y="2440415"/>
            <a:ext cx="15087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Lanzamiento público de Claude. Claude 2 introduce contexto de 100K tokens y mejoras en razonamiento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478521" y="1599167"/>
            <a:ext cx="521100" cy="54900"/>
          </a:xfrm>
          <a:prstGeom prst="rect">
            <a:avLst/>
          </a:prstGeom>
          <a:solidFill>
            <a:srgbClr val="3498D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426961" y="1324847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832601" y="97737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832601" y="1937495"/>
            <a:ext cx="1645800" cy="27432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832601" y="1937495"/>
            <a:ext cx="1645800" cy="639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905753" y="2028935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05753" y="2440415"/>
            <a:ext cx="15087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Familia Haiku/Sonnet/Opus. Capacidades multimodales. Opus supera GPT-4 en múltiples benchmarks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594089" y="1324847"/>
            <a:ext cx="457200" cy="457200"/>
          </a:xfrm>
          <a:prstGeom prst="ellipse">
            <a:avLst/>
          </a:prstGeom>
          <a:solidFill>
            <a:srgbClr val="1ABC9C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999729" y="97737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999729" y="1937495"/>
            <a:ext cx="1645800" cy="27432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999729" y="1937495"/>
            <a:ext cx="1645800" cy="639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072881" y="2028935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072881" y="2440415"/>
            <a:ext cx="15087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Claude Opus 4 y Sonnet 4 — modelos de última generación con razonamiento avanzado y mayor autonomía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— Arquitectura del Modelo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28600" y="960120"/>
            <a:ext cx="4160520" cy="169164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228600" y="960120"/>
            <a:ext cx="64008" cy="1691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65760" y="10515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 Base: Transformer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65760" y="1463040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Decoder-only architecture. Multi-head self-attention con positional embeddings. Flash Attention para eficiencia en contextos largos.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617720" y="960120"/>
            <a:ext cx="4160520" cy="169164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617720" y="960120"/>
            <a:ext cx="64008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754880" y="10515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📏  Escala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754880" y="1463040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Parámetros no divulgados públicamente. Estimados: Opus ~52B+ (MoE posible). Entrenado en corpus masivo de texto e imágenes.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28600" y="2880360"/>
            <a:ext cx="4160520" cy="169164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228600" y="2880360"/>
            <a:ext cx="64008" cy="16916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65760" y="297180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🔢  Contexto 200K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65760" y="3383280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Claude 3+ acepta 200,000 tokens de contexto (~150,000 palabras). Equivale a un libro entero. Técnica: positional scaling.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617720" y="2880360"/>
            <a:ext cx="4160520" cy="169164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617720" y="2880360"/>
            <a:ext cx="64008" cy="16916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754880" y="297180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👁️  Multimodal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754880" y="3383280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Claude 3+ procesa imágenes y texto. Vision encoder integrado. Análisis de gráficos, documentos, imágenes y tablas.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31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Fortalezas y Limitaciones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28600" y="932688"/>
            <a:ext cx="4160520" cy="393192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228600" y="932688"/>
            <a:ext cx="416052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320040" y="93268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✅  FORTALEZAS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20040" y="1444752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11480" y="1444752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+ Contexto 200K tokens — el más largo disponible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0040" y="1920240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11480" y="192024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+ Safety y alineación superiores (Constitutional AI)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20040" y="2395728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11480" y="2395728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+ Respuestas muy bien redactadas y estructuradas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0040" y="2871216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11480" y="2871216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+ Excelente en tareas de análisis y razonamiento largo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0040" y="3346704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11480" y="3346704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+ Menor tasa de alucinaciones vs competidores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20040" y="3822192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11480" y="3822192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+ API robusta: system prompts, tool use, streaming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20040" y="4297680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11480" y="429768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+ Opus 4 supera GPT-4 en MATH, HumanEval y MMLU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754880" y="932688"/>
            <a:ext cx="4160520" cy="393192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754880" y="932688"/>
            <a:ext cx="4160520" cy="411480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846320" y="93268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⚠️  LIMITACIONES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46320" y="1444752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937760" y="1444752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− Sin acceso a internet en tiempo real (base)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46320" y="1920240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937760" y="192024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− Knowledge cutoff — no sabe eventos recientes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46320" y="2395728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937760" y="2395728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− Más conservador que GPT-4 en ciertos temas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46320" y="2871216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937760" y="2871216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− Arquitectura y parámetros no son open-source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846320" y="3346704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937760" y="3346704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− Sin generación de imágenes (solo análisis)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846320" y="3822192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937760" y="3822192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− Puede ser excesivamente cauteloso en edge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846320" y="4297680"/>
            <a:ext cx="3977640" cy="40233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937760" y="429768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− Coste elevado para volúmenes masivos de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4.1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Aplicaciones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260225" y="1180545"/>
            <a:ext cx="2788800" cy="16641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60225" y="1180545"/>
            <a:ext cx="2788800" cy="639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69953" y="1290273"/>
            <a:ext cx="257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🏥  Salud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69953" y="1729185"/>
            <a:ext cx="2578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Análisis de registros médicos, asistencia a diagnóstico, resumen de papers clínicos, chatbots de salud mental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140585" y="1180545"/>
            <a:ext cx="2788800" cy="16641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140585" y="1180545"/>
            <a:ext cx="2788800" cy="639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250313" y="1290273"/>
            <a:ext cx="257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  Legal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250313" y="1729185"/>
            <a:ext cx="2578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Revisión de contratos, búsqueda de jurisprudencia, drafting de documentos, due diligence automatizado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020945" y="1180545"/>
            <a:ext cx="2788800" cy="16641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020945" y="1180545"/>
            <a:ext cx="2788800" cy="639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130673" y="1290273"/>
            <a:ext cx="257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 Educación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130673" y="1729185"/>
            <a:ext cx="2578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Tutores personalizados, generación de ejercicios, feedback en redacciones, asistente de investigación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60225" y="3055065"/>
            <a:ext cx="2788800" cy="16641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60225" y="3055065"/>
            <a:ext cx="2788800" cy="639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69953" y="3164793"/>
            <a:ext cx="257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💻  Software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69953" y="3603705"/>
            <a:ext cx="2578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GitHub Copilot-like coding, code review, documentación automática, debugging asistido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140585" y="3055065"/>
            <a:ext cx="2788800" cy="16641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140585" y="3055065"/>
            <a:ext cx="2788800" cy="639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250313" y="3164793"/>
            <a:ext cx="257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Finanzas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250313" y="3603705"/>
            <a:ext cx="2578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Análisis de reportes, resumen de earnings calls, detección de riesgos en documentos financieros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020945" y="3055065"/>
            <a:ext cx="2788800" cy="16641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020945" y="3055065"/>
            <a:ext cx="2788800" cy="639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130673" y="3164793"/>
            <a:ext cx="257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🔬  Research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130673" y="3603705"/>
            <a:ext cx="2578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Revisión bibliográfica, hipótesis, síntesis de papers, asistente de laboratorio (Anthropic API)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31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04.2 — Comparativa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228600" y="1325880"/>
            <a:ext cx="54864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228600" y="1984248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28600" y="2642616"/>
            <a:ext cx="54864" cy="5943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228600" y="3300984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228600" y="3959352"/>
            <a:ext cx="54864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9" title="claude_virtudes.png"/>
          <p:cNvPicPr preferRelativeResize="0"/>
          <p:nvPr/>
        </p:nvPicPr>
        <p:blipFill rotWithShape="1">
          <a:blip r:embed="rId3">
            <a:alphaModFix/>
          </a:blip>
          <a:srcRect b="12560" l="0" r="0" t="15544"/>
          <a:stretch/>
        </p:blipFill>
        <p:spPr>
          <a:xfrm>
            <a:off x="515700" y="1024925"/>
            <a:ext cx="8262552" cy="380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0C2CB">
              <a:alpha val="12160"/>
            </a:srgbClr>
          </a:solidFill>
          <a:ln cap="flat" cmpd="sng" w="12700">
            <a:solidFill>
              <a:srgbClr val="00C2CB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7132320" y="-182880"/>
            <a:ext cx="2743200" cy="2743200"/>
          </a:xfrm>
          <a:prstGeom prst="ellipse">
            <a:avLst/>
          </a:prstGeom>
          <a:solidFill>
            <a:srgbClr val="4A90D9">
              <a:alpha val="14900"/>
            </a:srgbClr>
          </a:solidFill>
          <a:ln cap="flat" cmpd="sng" w="12700">
            <a:solidFill>
              <a:srgbClr val="4A90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457200" y="914400"/>
            <a:ext cx="2377500" cy="292500"/>
          </a:xfrm>
          <a:prstGeom prst="rect">
            <a:avLst/>
          </a:prstGeom>
          <a:solidFill>
            <a:srgbClr val="00C2CB">
              <a:alpha val="14900"/>
            </a:srgbClr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57200" y="914400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PROYECTO FINAL —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1371600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RAG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24231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02925" y="3129200"/>
            <a:ext cx="73152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i="1" sz="1200">
              <a:solidFill>
                <a:srgbClr val="7F8C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200"/>
              <a:buFont typeface="Calibri"/>
              <a:buChar char="●"/>
            </a:pPr>
            <a: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Christian Gutierrez Rosales</a:t>
            </a:r>
            <a:endParaRPr i="1" sz="1200">
              <a:solidFill>
                <a:srgbClr val="7F8C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200"/>
              <a:buFont typeface="Calibri"/>
              <a:buChar char="●"/>
            </a:pPr>
            <a: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Gianella Forttini Verastegui</a:t>
            </a:r>
            <a:br>
              <a:rPr i="1" lang="en-US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65760" y="0"/>
            <a:ext cx="8412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79650" y="1331603"/>
            <a:ext cx="20118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379650" y="1331603"/>
            <a:ext cx="2011800" cy="639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25352" y="1464125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71140" y="2053293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2555922" y="1331603"/>
            <a:ext cx="20118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2555922" y="1331603"/>
            <a:ext cx="2011800" cy="63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2647347" y="1441337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rgbClr val="00C2C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2654312" y="2053293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Decisiones técnicas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672824" y="1331588"/>
            <a:ext cx="19746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4672824" y="1331588"/>
            <a:ext cx="1974600" cy="639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4764246" y="1441325"/>
            <a:ext cx="59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200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764386" y="2053303"/>
            <a:ext cx="179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752649" y="1331588"/>
            <a:ext cx="20118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752649" y="1331588"/>
            <a:ext cx="2011800" cy="639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6827140" y="1441320"/>
            <a:ext cx="504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20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837152" y="2053303"/>
            <a:ext cx="1825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566100" y="3176453"/>
            <a:ext cx="2011800" cy="164580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635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566100" y="3176453"/>
            <a:ext cx="2011800" cy="63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712690" y="3380645"/>
            <a:ext cx="504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659302" y="3953278"/>
            <a:ext cx="1825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31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0" y="0"/>
            <a:ext cx="201300" cy="804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365760" y="0"/>
            <a:ext cx="8412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—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0" y="0"/>
            <a:ext cx="201300" cy="804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365760" y="0"/>
            <a:ext cx="8412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—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Decisiones técnicas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31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0" y="0"/>
            <a:ext cx="201300" cy="804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365760" y="0"/>
            <a:ext cx="8412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0" y="0"/>
            <a:ext cx="201300" cy="804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365760" y="0"/>
            <a:ext cx="8412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31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0" y="0"/>
            <a:ext cx="201300" cy="804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365760" y="0"/>
            <a:ext cx="8412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 —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